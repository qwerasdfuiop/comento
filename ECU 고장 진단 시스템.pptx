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3BF4D8-872E-D3DD-327B-CD462C90D8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2F7C9CC-E56A-D213-697B-EFAC2A9463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F7FF39E-AFBA-A152-6C8B-740009A5A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7F28564-2BEE-B45B-E924-BC152CD66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AE81811-2DB4-6180-BF1E-E85EAA636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2421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67F457-908E-E844-E820-F02007F84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7F441C-1473-9809-1449-3FB25622C2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BB8777-1B41-10E0-2D73-4C093D296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18F9CCB-7E28-6483-56D7-F817FFAD93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B8A064-1EE7-9B9B-8F13-11A8A374F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3198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B4D691-F76C-17EA-0AA3-F06B7BF95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38898C6-4F8E-4AB7-EA08-A32DB986B5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D69968-F043-49D9-78F9-AA82CBAF1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AD32B75-090E-EBC5-02E3-8487EC0D5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04590E-7B23-B9DE-C458-B8EF6CCA7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3199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CEF4D2-754C-6E18-0A11-35D1FD5AF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70A2BB-2B97-4713-F0B3-082C551150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714088F-79C3-5896-0E75-45C39B64CC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7F02A31-D290-3FFA-4E72-1B7AFF31E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2C4A8ED-565C-3659-F63C-0846DC2219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ABAF72B-CDE4-8BF9-1229-23608DBFC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44212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3ADB7F-E9F0-E809-D616-9D947D432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6B89CFE-109C-0592-13BE-EEC66646B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5479C4C-8C84-C5BA-B054-C9D53AC458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2F1EA97-6CD2-6329-4774-C0925AF778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F3A1938-6164-A461-B6F5-F741ED664E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A17BA77-449F-3C8E-E536-26EB5B5D4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D770418-CFD2-AE3D-A31D-E2B158765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E26ED4E-2E56-775C-303F-859CA37DA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620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EB04ED-D529-7D19-81F8-9D0A62B95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DFFBE6C-EA64-242B-6FA1-450825A1D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2549AA1-48A7-1941-C99A-8E114B1BF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F29C5F3-B259-1D02-8339-E7F046522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9498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FEB3CA4-0665-571C-3E87-51CF35135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223CB7A-7644-804A-1172-011270C78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F98276-1A12-7403-0553-0F7527753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027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A6A144-6D9A-1071-0124-0F935420F9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CC3E9A-B934-5F17-623C-45083E1858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8DB3BBB-237A-02F6-99D2-B6557E220B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1D1235E-5D23-188F-8410-11C8FF9B1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A1CA0EA-121A-ECD2-6EF7-4734856EE4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D368A8F-9580-ED43-0CB1-50D3A37EE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08842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3A545E-8C41-51E8-FEC4-76CCD737E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81CC525-097C-13B2-2065-17BAB145E8A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3EE2C9A-3CEF-29E2-3514-47378423C7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4F1B9F6-C3C8-A458-99CA-7C9BA576F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8660F53-F0C2-1338-D423-67952416F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E2BE7F2-5101-4800-94B4-40ECA90B1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6563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8FB75A-79D3-F316-C588-4FEE27AD5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7624706-8DAC-90A5-86B8-8C887D554D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CC6CB2-7743-1F64-D610-36CBAB3D6B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23C636-944E-9F04-192C-9318AE05BB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8256E7-32AB-F175-031B-785A17A15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8372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4837702-AC46-FFC1-1560-F34354AFB8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838A08A-E3B9-BD3D-CCAF-45BCF10A85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18D64F-6ED2-F7D5-D58F-FABC9DBA0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6AE2DB8-28AE-6142-1E69-6490FDE1F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56C71A9-F03F-A732-0D4B-15ABFDFE6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45480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7E1F4D4-2AB1-B984-7323-0E9349ECD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26048B5-CD46-9F0A-AF10-49373642D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E7FA4D-9B0B-2657-8AA1-177EDE3330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1CB108-455C-4D01-80D6-E92D3E7D956D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0448559-A90B-50F8-F402-A510189D15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04421D-6914-AB36-4AAC-1B3D9E338B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206736-05B2-4A95-B510-CFCE6C96EB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36366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903C20-CE53-63EE-C8C3-FDA3AFBE1F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ko-KR" altLang="ko-KR" dirty="0"/>
              <a:t>STM32F413 기반 차량 ECU </a:t>
            </a:r>
            <a:r>
              <a:rPr lang="ko-KR" altLang="en-US" dirty="0"/>
              <a:t>고장 진단</a:t>
            </a:r>
            <a:r>
              <a:rPr lang="ko-KR" altLang="ko-KR" dirty="0"/>
              <a:t> 시스템 개발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A7D746-E8CF-82B2-4317-68C8076495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김도훈</a:t>
            </a:r>
            <a:endParaRPr lang="en-US" altLang="ko-KR" dirty="0"/>
          </a:p>
          <a:p>
            <a:r>
              <a:rPr lang="en-US" altLang="ko-KR" dirty="0"/>
              <a:t>email : kimdouhoon98@gmail.com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1863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4DDE26-0ABD-BC16-53A2-BA109F1BC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ko-KR" altLang="en-US" dirty="0"/>
              <a:t>프로젝트 개요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3B417C-66A3-E6F0-8092-2209CFB93B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배경 </a:t>
            </a:r>
            <a:r>
              <a:rPr lang="en-US" altLang="ko-KR" dirty="0"/>
              <a:t>: </a:t>
            </a:r>
            <a:r>
              <a:rPr lang="ko-KR" altLang="en-US" dirty="0"/>
              <a:t>신규 </a:t>
            </a:r>
            <a:r>
              <a:rPr lang="en-US" altLang="ko-KR" dirty="0"/>
              <a:t>EV </a:t>
            </a:r>
            <a:r>
              <a:rPr lang="ko-KR" altLang="en-US" dirty="0"/>
              <a:t>모델의 브레이크 시스템을 개발</a:t>
            </a:r>
            <a:endParaRPr lang="en-US" altLang="ko-KR" dirty="0"/>
          </a:p>
          <a:p>
            <a:r>
              <a:rPr lang="ko-KR" altLang="en-US" dirty="0"/>
              <a:t>요구사항 </a:t>
            </a:r>
            <a:r>
              <a:rPr lang="en-US" altLang="ko-KR" dirty="0"/>
              <a:t>: </a:t>
            </a:r>
          </a:p>
          <a:p>
            <a:pPr lvl="1"/>
            <a:r>
              <a:rPr lang="en-US" altLang="ko-KR" dirty="0"/>
              <a:t>I2C</a:t>
            </a:r>
            <a:r>
              <a:rPr lang="ko-KR" altLang="en-US" dirty="0"/>
              <a:t>로 </a:t>
            </a:r>
            <a:r>
              <a:rPr lang="en-US" altLang="ko-KR" dirty="0" err="1"/>
              <a:t>Vout</a:t>
            </a:r>
            <a:r>
              <a:rPr lang="ko-KR" altLang="en-US" dirty="0"/>
              <a:t>을 제어</a:t>
            </a:r>
            <a:endParaRPr lang="en-US" altLang="ko-KR" dirty="0"/>
          </a:p>
          <a:p>
            <a:pPr lvl="1"/>
            <a:r>
              <a:rPr lang="en-US" altLang="ko-KR" dirty="0"/>
              <a:t>UV, OV, OC </a:t>
            </a:r>
            <a:r>
              <a:rPr lang="ko-KR" altLang="en-US" dirty="0"/>
              <a:t>레지스터 </a:t>
            </a:r>
            <a:r>
              <a:rPr lang="en-US" altLang="ko-KR" dirty="0"/>
              <a:t>Read</a:t>
            </a:r>
          </a:p>
          <a:p>
            <a:pPr lvl="1"/>
            <a:r>
              <a:rPr lang="en-US" altLang="ko-KR" dirty="0"/>
              <a:t>UVLO</a:t>
            </a:r>
            <a:r>
              <a:rPr lang="ko-KR" altLang="en-US" dirty="0"/>
              <a:t>를 </a:t>
            </a:r>
            <a:r>
              <a:rPr lang="en-US" altLang="ko-KR" dirty="0"/>
              <a:t>ADC</a:t>
            </a:r>
            <a:r>
              <a:rPr lang="ko-KR" altLang="en-US" dirty="0"/>
              <a:t>를 통해 감지</a:t>
            </a:r>
            <a:endParaRPr lang="en-US" altLang="ko-KR" dirty="0"/>
          </a:p>
          <a:p>
            <a:pPr lvl="1"/>
            <a:r>
              <a:rPr lang="ko-KR" altLang="en-US" dirty="0"/>
              <a:t>고장 발생 시 </a:t>
            </a:r>
            <a:r>
              <a:rPr lang="en-US" altLang="ko-KR" dirty="0"/>
              <a:t>SPI</a:t>
            </a:r>
            <a:r>
              <a:rPr lang="ko-KR" altLang="en-US" dirty="0"/>
              <a:t>로 동작하는 </a:t>
            </a:r>
            <a:r>
              <a:rPr lang="en-US" altLang="ko-KR" dirty="0"/>
              <a:t>EEPROM</a:t>
            </a:r>
            <a:r>
              <a:rPr lang="ko-KR" altLang="en-US" dirty="0"/>
              <a:t>에 </a:t>
            </a:r>
            <a:r>
              <a:rPr lang="en-US" altLang="ko-KR" dirty="0"/>
              <a:t>DTC</a:t>
            </a:r>
            <a:r>
              <a:rPr lang="ko-KR" altLang="en-US" dirty="0"/>
              <a:t>를 저장</a:t>
            </a:r>
            <a:endParaRPr lang="en-US" altLang="ko-KR" dirty="0"/>
          </a:p>
          <a:p>
            <a:pPr lvl="1"/>
            <a:r>
              <a:rPr lang="en-US" altLang="ko-KR" dirty="0"/>
              <a:t>CAN UDS 0x19 </a:t>
            </a:r>
            <a:r>
              <a:rPr lang="ko-KR" altLang="en-US" dirty="0" err="1"/>
              <a:t>요청시</a:t>
            </a:r>
            <a:r>
              <a:rPr lang="ko-KR" altLang="en-US" dirty="0"/>
              <a:t> </a:t>
            </a:r>
            <a:r>
              <a:rPr lang="en-US" altLang="ko-KR" dirty="0"/>
              <a:t>DTC</a:t>
            </a:r>
            <a:r>
              <a:rPr lang="ko-KR" altLang="en-US" dirty="0"/>
              <a:t>를 전송</a:t>
            </a:r>
            <a:endParaRPr lang="en-US" altLang="ko-KR" dirty="0"/>
          </a:p>
          <a:p>
            <a:pPr lvl="1"/>
            <a:r>
              <a:rPr lang="en-US" altLang="ko-KR" dirty="0"/>
              <a:t>CAN UDS 0x14 </a:t>
            </a:r>
            <a:r>
              <a:rPr lang="ko-KR" altLang="en-US" dirty="0" err="1"/>
              <a:t>요청시</a:t>
            </a:r>
            <a:r>
              <a:rPr lang="ko-KR" altLang="en-US" dirty="0"/>
              <a:t> </a:t>
            </a:r>
            <a:r>
              <a:rPr lang="en-US" altLang="ko-KR" dirty="0"/>
              <a:t>EEPROM</a:t>
            </a:r>
            <a:r>
              <a:rPr lang="ko-KR" altLang="en-US" dirty="0"/>
              <a:t>의 </a:t>
            </a:r>
            <a:r>
              <a:rPr lang="en-US" altLang="ko-KR" dirty="0"/>
              <a:t>DTC</a:t>
            </a:r>
            <a:r>
              <a:rPr lang="ko-KR" altLang="en-US" dirty="0"/>
              <a:t>를 </a:t>
            </a:r>
            <a:r>
              <a:rPr lang="en-US" altLang="ko-KR" dirty="0"/>
              <a:t>clear</a:t>
            </a:r>
          </a:p>
          <a:p>
            <a:r>
              <a:rPr lang="ko-KR" altLang="en-US" dirty="0"/>
              <a:t>확장</a:t>
            </a:r>
            <a:endParaRPr lang="en-US" altLang="ko-KR" dirty="0"/>
          </a:p>
          <a:p>
            <a:pPr lvl="1"/>
            <a:r>
              <a:rPr lang="en-US" altLang="ko-KR" dirty="0"/>
              <a:t>Power-switch</a:t>
            </a:r>
            <a:r>
              <a:rPr lang="ko-KR" altLang="en-US" dirty="0"/>
              <a:t> </a:t>
            </a:r>
            <a:r>
              <a:rPr lang="en-US" altLang="ko-KR" dirty="0"/>
              <a:t>IC</a:t>
            </a:r>
            <a:r>
              <a:rPr lang="ko-KR" altLang="en-US" dirty="0"/>
              <a:t>를 통해 부하 전류가</a:t>
            </a:r>
            <a:r>
              <a:rPr lang="en-US" altLang="ko-KR" dirty="0"/>
              <a:t> </a:t>
            </a:r>
            <a:r>
              <a:rPr lang="ko-KR" altLang="en-US" dirty="0"/>
              <a:t>과전류가 되는지 감지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69115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EE49B-47F1-5058-FA21-76D44ABE6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E10088-9FA8-6C69-08B1-3769F56FC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ko-KR" altLang="en-US" dirty="0"/>
              <a:t>시스템 </a:t>
            </a:r>
            <a:r>
              <a:rPr lang="ko-KR" altLang="en-US" dirty="0" err="1"/>
              <a:t>아키텍쳐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05CB3D6-1701-D731-3CE9-31E34F6B5E26}"/>
              </a:ext>
            </a:extLst>
          </p:cNvPr>
          <p:cNvSpPr/>
          <p:nvPr/>
        </p:nvSpPr>
        <p:spPr>
          <a:xfrm>
            <a:off x="4836243" y="2616160"/>
            <a:ext cx="1632154" cy="140146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ECU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1442CFC6-BE9A-C564-DA92-2FF7B0E73CC1}"/>
              </a:ext>
            </a:extLst>
          </p:cNvPr>
          <p:cNvSpPr/>
          <p:nvPr/>
        </p:nvSpPr>
        <p:spPr>
          <a:xfrm>
            <a:off x="1474841" y="1491672"/>
            <a:ext cx="1632154" cy="140146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PMIC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4CB08EB0-592F-85C9-95A0-819D8B7287F2}"/>
              </a:ext>
            </a:extLst>
          </p:cNvPr>
          <p:cNvSpPr/>
          <p:nvPr/>
        </p:nvSpPr>
        <p:spPr>
          <a:xfrm>
            <a:off x="1389027" y="4571812"/>
            <a:ext cx="1632154" cy="198836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CAN</a:t>
            </a:r>
          </a:p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Tranceiver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1B665407-EF2A-230D-7080-A12857830136}"/>
              </a:ext>
            </a:extLst>
          </p:cNvPr>
          <p:cNvSpPr/>
          <p:nvPr/>
        </p:nvSpPr>
        <p:spPr>
          <a:xfrm>
            <a:off x="8413955" y="1441089"/>
            <a:ext cx="1632154" cy="140146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EEPROM</a:t>
            </a: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7ECE80-4B58-ED6A-99DA-D2AA748D38ED}"/>
              </a:ext>
            </a:extLst>
          </p:cNvPr>
          <p:cNvSpPr txBox="1"/>
          <p:nvPr/>
        </p:nvSpPr>
        <p:spPr>
          <a:xfrm>
            <a:off x="3716593" y="1915847"/>
            <a:ext cx="12093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Vout</a:t>
            </a:r>
            <a:r>
              <a:rPr lang="en-US" altLang="ko-KR" dirty="0"/>
              <a:t> </a:t>
            </a:r>
            <a:r>
              <a:rPr lang="ko-KR" altLang="en-US" dirty="0"/>
              <a:t>제어</a:t>
            </a:r>
          </a:p>
        </p:txBody>
      </p:sp>
      <p:sp>
        <p:nvSpPr>
          <p:cNvPr id="21" name="화살표: 왼쪽 20">
            <a:extLst>
              <a:ext uri="{FF2B5EF4-FFF2-40B4-BE49-F238E27FC236}">
                <a16:creationId xmlns:a16="http://schemas.microsoft.com/office/drawing/2014/main" id="{194E25FF-4A2E-6208-8FEE-F71D322D1120}"/>
              </a:ext>
            </a:extLst>
          </p:cNvPr>
          <p:cNvSpPr/>
          <p:nvPr/>
        </p:nvSpPr>
        <p:spPr>
          <a:xfrm rot="1613086">
            <a:off x="3030800" y="2269028"/>
            <a:ext cx="1881636" cy="301718"/>
          </a:xfrm>
          <a:prstGeom prst="leftArrow">
            <a:avLst>
              <a:gd name="adj1" fmla="val 17900"/>
              <a:gd name="adj2" fmla="val 45786"/>
            </a:avLst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화살표: 왼쪽 22">
            <a:extLst>
              <a:ext uri="{FF2B5EF4-FFF2-40B4-BE49-F238E27FC236}">
                <a16:creationId xmlns:a16="http://schemas.microsoft.com/office/drawing/2014/main" id="{ABD93658-940B-7090-6E27-06543AFA7C6C}"/>
              </a:ext>
            </a:extLst>
          </p:cNvPr>
          <p:cNvSpPr/>
          <p:nvPr/>
        </p:nvSpPr>
        <p:spPr>
          <a:xfrm rot="12424922">
            <a:off x="3031807" y="2744999"/>
            <a:ext cx="1881636" cy="301718"/>
          </a:xfrm>
          <a:prstGeom prst="leftArrow">
            <a:avLst>
              <a:gd name="adj1" fmla="val 17900"/>
              <a:gd name="adj2" fmla="val 4578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9E5A4F5-A693-6D04-47C0-945409F401D1}"/>
              </a:ext>
            </a:extLst>
          </p:cNvPr>
          <p:cNvSpPr txBox="1"/>
          <p:nvPr/>
        </p:nvSpPr>
        <p:spPr>
          <a:xfrm>
            <a:off x="2567409" y="2986855"/>
            <a:ext cx="19480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(1) </a:t>
            </a:r>
            <a:r>
              <a:rPr lang="en-US" altLang="ko-KR" dirty="0"/>
              <a:t>UV,OV,OC</a:t>
            </a:r>
          </a:p>
          <a:p>
            <a:r>
              <a:rPr lang="en-US" altLang="ko-KR" dirty="0"/>
              <a:t>UVLO</a:t>
            </a:r>
            <a:r>
              <a:rPr lang="ko-KR" altLang="en-US" dirty="0"/>
              <a:t> 정보 읽기</a:t>
            </a:r>
          </a:p>
        </p:txBody>
      </p:sp>
      <p:sp>
        <p:nvSpPr>
          <p:cNvPr id="27" name="화살표: 왼쪽 26">
            <a:extLst>
              <a:ext uri="{FF2B5EF4-FFF2-40B4-BE49-F238E27FC236}">
                <a16:creationId xmlns:a16="http://schemas.microsoft.com/office/drawing/2014/main" id="{64B1E5D5-9E05-CEC4-CE83-1F51EA8F2131}"/>
              </a:ext>
            </a:extLst>
          </p:cNvPr>
          <p:cNvSpPr/>
          <p:nvPr/>
        </p:nvSpPr>
        <p:spPr>
          <a:xfrm rot="9099911">
            <a:off x="6335211" y="1930434"/>
            <a:ext cx="2211928" cy="340155"/>
          </a:xfrm>
          <a:prstGeom prst="leftArrow">
            <a:avLst>
              <a:gd name="adj1" fmla="val 17900"/>
              <a:gd name="adj2" fmla="val 4578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7780D9F-E15C-EFE1-B231-F4C5CABD273B}"/>
              </a:ext>
            </a:extLst>
          </p:cNvPr>
          <p:cNvSpPr/>
          <p:nvPr/>
        </p:nvSpPr>
        <p:spPr>
          <a:xfrm>
            <a:off x="9002962" y="4571812"/>
            <a:ext cx="1632154" cy="140146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Power-switch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1" name="화살표: 왼쪽 30">
            <a:extLst>
              <a:ext uri="{FF2B5EF4-FFF2-40B4-BE49-F238E27FC236}">
                <a16:creationId xmlns:a16="http://schemas.microsoft.com/office/drawing/2014/main" id="{B3F3EB4E-B07C-3C4A-6854-B1F0743233AD}"/>
              </a:ext>
            </a:extLst>
          </p:cNvPr>
          <p:cNvSpPr/>
          <p:nvPr/>
        </p:nvSpPr>
        <p:spPr>
          <a:xfrm rot="9215800">
            <a:off x="2911021" y="4124924"/>
            <a:ext cx="1998232" cy="352702"/>
          </a:xfrm>
          <a:prstGeom prst="leftArrow">
            <a:avLst>
              <a:gd name="adj1" fmla="val 17900"/>
              <a:gd name="adj2" fmla="val 45786"/>
            </a:avLst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화살표: 왼쪽 32">
            <a:extLst>
              <a:ext uri="{FF2B5EF4-FFF2-40B4-BE49-F238E27FC236}">
                <a16:creationId xmlns:a16="http://schemas.microsoft.com/office/drawing/2014/main" id="{D22164F5-2BC1-B1F6-E815-71EA6A59F9CB}"/>
              </a:ext>
            </a:extLst>
          </p:cNvPr>
          <p:cNvSpPr/>
          <p:nvPr/>
        </p:nvSpPr>
        <p:spPr>
          <a:xfrm rot="9028821">
            <a:off x="6371147" y="2403809"/>
            <a:ext cx="2140057" cy="310923"/>
          </a:xfrm>
          <a:prstGeom prst="leftArrow">
            <a:avLst>
              <a:gd name="adj1" fmla="val 17900"/>
              <a:gd name="adj2" fmla="val 45786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62A5B06-52F2-AF07-9E14-D07FE457EAF0}"/>
              </a:ext>
            </a:extLst>
          </p:cNvPr>
          <p:cNvSpPr txBox="1"/>
          <p:nvPr/>
        </p:nvSpPr>
        <p:spPr>
          <a:xfrm>
            <a:off x="1797083" y="3931819"/>
            <a:ext cx="2154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92D050"/>
                </a:solidFill>
              </a:rPr>
              <a:t>(1) </a:t>
            </a:r>
            <a:r>
              <a:rPr lang="en-US" altLang="ko-KR" dirty="0"/>
              <a:t>UDS 0x19 Read</a:t>
            </a:r>
            <a:endParaRPr lang="ko-KR" altLang="en-US" dirty="0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24803520-A495-F9E5-464A-6C61B3214980}"/>
              </a:ext>
            </a:extLst>
          </p:cNvPr>
          <p:cNvSpPr/>
          <p:nvPr/>
        </p:nvSpPr>
        <p:spPr>
          <a:xfrm>
            <a:off x="7010400" y="4204434"/>
            <a:ext cx="4611329" cy="2196366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화살표: 왼쪽/오른쪽 36">
            <a:extLst>
              <a:ext uri="{FF2B5EF4-FFF2-40B4-BE49-F238E27FC236}">
                <a16:creationId xmlns:a16="http://schemas.microsoft.com/office/drawing/2014/main" id="{60284809-0119-C396-5957-CA6B04B183C2}"/>
              </a:ext>
            </a:extLst>
          </p:cNvPr>
          <p:cNvSpPr/>
          <p:nvPr/>
        </p:nvSpPr>
        <p:spPr>
          <a:xfrm>
            <a:off x="98322" y="5145841"/>
            <a:ext cx="1216152" cy="484632"/>
          </a:xfrm>
          <a:prstGeom prst="left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DC0D30B-22B3-5EFF-803C-4FE961C74928}"/>
              </a:ext>
            </a:extLst>
          </p:cNvPr>
          <p:cNvSpPr txBox="1"/>
          <p:nvPr/>
        </p:nvSpPr>
        <p:spPr>
          <a:xfrm>
            <a:off x="0" y="47188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외부 </a:t>
            </a:r>
            <a:r>
              <a:rPr lang="ko-KR" altLang="en-US" dirty="0" err="1"/>
              <a:t>진단기</a:t>
            </a:r>
            <a:endParaRPr lang="ko-KR" altLang="en-US" dirty="0"/>
          </a:p>
        </p:txBody>
      </p:sp>
      <p:sp>
        <p:nvSpPr>
          <p:cNvPr id="43" name="화살표: 왼쪽 42">
            <a:extLst>
              <a:ext uri="{FF2B5EF4-FFF2-40B4-BE49-F238E27FC236}">
                <a16:creationId xmlns:a16="http://schemas.microsoft.com/office/drawing/2014/main" id="{EE4E4E05-4A84-0DD6-1B3E-1E3F79C62CD9}"/>
              </a:ext>
            </a:extLst>
          </p:cNvPr>
          <p:cNvSpPr/>
          <p:nvPr/>
        </p:nvSpPr>
        <p:spPr>
          <a:xfrm rot="20002304">
            <a:off x="2972503" y="4425987"/>
            <a:ext cx="1998232" cy="352702"/>
          </a:xfrm>
          <a:prstGeom prst="leftArrow">
            <a:avLst>
              <a:gd name="adj1" fmla="val 17900"/>
              <a:gd name="adj2" fmla="val 45786"/>
            </a:avLst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2ACD4E5-5E81-14ED-45E6-F2522E33C998}"/>
              </a:ext>
            </a:extLst>
          </p:cNvPr>
          <p:cNvSpPr txBox="1"/>
          <p:nvPr/>
        </p:nvSpPr>
        <p:spPr>
          <a:xfrm>
            <a:off x="2949717" y="5101605"/>
            <a:ext cx="14896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92D050"/>
                </a:solidFill>
              </a:rPr>
              <a:t>(2) </a:t>
            </a:r>
            <a:r>
              <a:rPr lang="en-US" altLang="ko-KR" dirty="0"/>
              <a:t>DTC </a:t>
            </a:r>
            <a:r>
              <a:rPr lang="ko-KR" altLang="en-US" dirty="0"/>
              <a:t>전송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3FC71CB-4F3C-4406-AEC6-A7475FD23BCD}"/>
              </a:ext>
            </a:extLst>
          </p:cNvPr>
          <p:cNvSpPr txBox="1"/>
          <p:nvPr/>
        </p:nvSpPr>
        <p:spPr>
          <a:xfrm>
            <a:off x="3106995" y="5855467"/>
            <a:ext cx="21643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(1) </a:t>
            </a:r>
            <a:r>
              <a:rPr lang="en-US" altLang="ko-KR" dirty="0"/>
              <a:t>UDS 0x14 Clear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2081306-71B8-895D-0574-CD9B750982F2}"/>
              </a:ext>
            </a:extLst>
          </p:cNvPr>
          <p:cNvSpPr txBox="1"/>
          <p:nvPr/>
        </p:nvSpPr>
        <p:spPr>
          <a:xfrm>
            <a:off x="5805007" y="1260375"/>
            <a:ext cx="242662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(2) </a:t>
            </a:r>
            <a:r>
              <a:rPr lang="en-US" altLang="ko-KR" dirty="0"/>
              <a:t>UV, OV, OC, UVLO</a:t>
            </a:r>
          </a:p>
          <a:p>
            <a:r>
              <a:rPr lang="ko-KR" altLang="en-US" dirty="0"/>
              <a:t>정보 저장</a:t>
            </a:r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고장 시에만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7E1837F-7632-5A52-B08D-47A9A16ADB8E}"/>
              </a:ext>
            </a:extLst>
          </p:cNvPr>
          <p:cNvSpPr txBox="1"/>
          <p:nvPr/>
        </p:nvSpPr>
        <p:spPr>
          <a:xfrm>
            <a:off x="6854617" y="2755163"/>
            <a:ext cx="21483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(2) </a:t>
            </a:r>
            <a:r>
              <a:rPr lang="ko-KR" altLang="en-US" dirty="0"/>
              <a:t>고장 정보 </a:t>
            </a:r>
            <a:r>
              <a:rPr lang="en-US" altLang="ko-KR" dirty="0"/>
              <a:t>Clear</a:t>
            </a:r>
            <a:endParaRPr lang="ko-KR" altLang="en-US" dirty="0"/>
          </a:p>
        </p:txBody>
      </p:sp>
      <p:sp>
        <p:nvSpPr>
          <p:cNvPr id="55" name="화살표: 왼쪽 54">
            <a:extLst>
              <a:ext uri="{FF2B5EF4-FFF2-40B4-BE49-F238E27FC236}">
                <a16:creationId xmlns:a16="http://schemas.microsoft.com/office/drawing/2014/main" id="{67FCCC50-A5FD-5A65-BDEA-A14B1ABB7DBF}"/>
              </a:ext>
            </a:extLst>
          </p:cNvPr>
          <p:cNvSpPr/>
          <p:nvPr/>
        </p:nvSpPr>
        <p:spPr>
          <a:xfrm rot="1090762">
            <a:off x="6459061" y="4184397"/>
            <a:ext cx="2560933" cy="371072"/>
          </a:xfrm>
          <a:prstGeom prst="leftArrow">
            <a:avLst>
              <a:gd name="adj1" fmla="val 17900"/>
              <a:gd name="adj2" fmla="val 45786"/>
            </a:avLst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D1D00BB-CDF7-BB5B-B67C-4A1CA7D7B86B}"/>
              </a:ext>
            </a:extLst>
          </p:cNvPr>
          <p:cNvSpPr txBox="1"/>
          <p:nvPr/>
        </p:nvSpPr>
        <p:spPr>
          <a:xfrm>
            <a:off x="6974639" y="4602338"/>
            <a:ext cx="17700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bg2">
                    <a:lumMod val="75000"/>
                  </a:schemeClr>
                </a:solidFill>
              </a:rPr>
              <a:t>(1) </a:t>
            </a:r>
            <a:r>
              <a:rPr lang="ko-KR" altLang="en-US" dirty="0"/>
              <a:t>과전류 감지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BCE7052-F0E6-455E-74FB-914F12395E89}"/>
              </a:ext>
            </a:extLst>
          </p:cNvPr>
          <p:cNvSpPr txBox="1"/>
          <p:nvPr/>
        </p:nvSpPr>
        <p:spPr>
          <a:xfrm>
            <a:off x="9478389" y="3165331"/>
            <a:ext cx="23134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bg2">
                    <a:lumMod val="75000"/>
                  </a:schemeClr>
                </a:solidFill>
              </a:rPr>
              <a:t>(2) </a:t>
            </a:r>
            <a:r>
              <a:rPr lang="ko-KR" altLang="en-US" dirty="0"/>
              <a:t>과전류 정보 저장</a:t>
            </a:r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고장 시에만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62" name="화살표: 굽음 61">
            <a:extLst>
              <a:ext uri="{FF2B5EF4-FFF2-40B4-BE49-F238E27FC236}">
                <a16:creationId xmlns:a16="http://schemas.microsoft.com/office/drawing/2014/main" id="{0EDA644E-FB31-53BF-DB67-6EDF4BAF962B}"/>
              </a:ext>
            </a:extLst>
          </p:cNvPr>
          <p:cNvSpPr/>
          <p:nvPr/>
        </p:nvSpPr>
        <p:spPr>
          <a:xfrm rot="5400000" flipH="1">
            <a:off x="3349746" y="3777265"/>
            <a:ext cx="2280013" cy="2917526"/>
          </a:xfrm>
          <a:prstGeom prst="bentArrow">
            <a:avLst>
              <a:gd name="adj1" fmla="val 3438"/>
              <a:gd name="adj2" fmla="val 11847"/>
              <a:gd name="adj3" fmla="val 9907"/>
              <a:gd name="adj4" fmla="val 38143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3" name="화살표: 굽음 62">
            <a:extLst>
              <a:ext uri="{FF2B5EF4-FFF2-40B4-BE49-F238E27FC236}">
                <a16:creationId xmlns:a16="http://schemas.microsoft.com/office/drawing/2014/main" id="{E9FFE866-A359-A6C0-0803-C18368ABE6CD}"/>
              </a:ext>
            </a:extLst>
          </p:cNvPr>
          <p:cNvSpPr/>
          <p:nvPr/>
        </p:nvSpPr>
        <p:spPr>
          <a:xfrm rot="5400000" flipH="1">
            <a:off x="7546546" y="1852402"/>
            <a:ext cx="883778" cy="2979908"/>
          </a:xfrm>
          <a:prstGeom prst="bentArrow">
            <a:avLst>
              <a:gd name="adj1" fmla="val 6087"/>
              <a:gd name="adj2" fmla="val 13318"/>
              <a:gd name="adj3" fmla="val 12762"/>
              <a:gd name="adj4" fmla="val 42637"/>
            </a:avLst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006BBBD-C25E-2E15-B557-BBD9696E3BE3}"/>
              </a:ext>
            </a:extLst>
          </p:cNvPr>
          <p:cNvSpPr txBox="1"/>
          <p:nvPr/>
        </p:nvSpPr>
        <p:spPr>
          <a:xfrm>
            <a:off x="8721189" y="6451657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확장 기능</a:t>
            </a:r>
          </a:p>
        </p:txBody>
      </p:sp>
    </p:spTree>
    <p:extLst>
      <p:ext uri="{BB962C8B-B14F-4D97-AF65-F5344CB8AC3E}">
        <p14:creationId xmlns:p14="http://schemas.microsoft.com/office/powerpoint/2010/main" val="20649506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162</Words>
  <Application>Microsoft Office PowerPoint</Application>
  <PresentationFormat>와이드스크린</PresentationFormat>
  <Paragraphs>36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STM32F413 기반 차량 ECU 고장 진단 시스템 개발</vt:lpstr>
      <vt:lpstr>프로젝트 개요</vt:lpstr>
      <vt:lpstr>시스템 아키텍쳐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도훈 김</dc:creator>
  <cp:lastModifiedBy>도훈 김</cp:lastModifiedBy>
  <cp:revision>2</cp:revision>
  <dcterms:created xsi:type="dcterms:W3CDTF">2026-10-19T05:23:47Z</dcterms:created>
  <dcterms:modified xsi:type="dcterms:W3CDTF">2026-10-19T06:26:58Z</dcterms:modified>
</cp:coreProperties>
</file>