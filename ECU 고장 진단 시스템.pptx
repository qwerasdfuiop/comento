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F9C2-239F-4BCA-907A-EA6CAD58696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9DCE2-1A76-46F3-9C22-567E4E81B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15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9DCE2-1A76-46F3-9C22-567E4E81BEC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83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BF4D8-872E-D3DD-327B-CD462C90D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F7C9CC-E56A-D213-697B-EFAC2A946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7FF39E-AFBA-A152-6C8B-740009A5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28564-2BEE-B45B-E924-BC152CD6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E81811-2DB4-6180-BF1E-E85EAA63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42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7F457-908E-E844-E820-F02007F8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F441C-1473-9809-1449-3FB25622C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BB8777-1B41-10E0-2D73-4C093D29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F9CCB-7E28-6483-56D7-F817FFAD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B8A064-1EE7-9B9B-8F13-11A8A374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19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4D691-F76C-17EA-0AA3-F06B7BF9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8898C6-4F8E-4AB7-EA08-A32DB986B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69968-F043-49D9-78F9-AA82CBAF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32B75-090E-EBC5-02E3-8487EC0D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4590E-7B23-B9DE-C458-B8EF6CCA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9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EF4D2-754C-6E18-0A11-35D1FD5A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0A2BB-2B97-4713-F0B3-082C55115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14088F-79C3-5896-0E75-45C39B64C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F02A31-D290-3FFA-4E72-1B7AFF31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C4A8ED-565C-3659-F63C-0846DC22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BAF72B-CDE4-8BF9-1229-23608DBF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42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ADB7F-E9F0-E809-D616-9D947D43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B89CFE-109C-0592-13BE-EEC66646B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479C4C-8C84-C5BA-B054-C9D53AC45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F1EA97-6CD2-6329-4774-C0925AF77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A1938-6164-A461-B6F5-F741ED664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17BA77-449F-3C8E-E536-26EB5B5D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770418-CFD2-AE3D-A31D-E2B15876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26ED4E-2E56-775C-303F-859CA37D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B04ED-D529-7D19-81F8-9D0A62B9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FFBE6C-EA64-242B-6FA1-450825A1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549AA1-48A7-1941-C99A-8E114B1B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29C5F3-B259-1D02-8339-E7F04652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4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EB3CA4-0665-571C-3E87-51CF3513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23CB7A-7644-804A-1172-011270C7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98276-1A12-7403-0553-0F752775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2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6A144-6D9A-1071-0124-0F935420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CC3E9A-B934-5F17-623C-45083E185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DB3BBB-237A-02F6-99D2-B6557E220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D1235E-5D23-188F-8410-11C8FF9B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1CA0EA-121A-ECD2-6EF7-4734856E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368A8F-9580-ED43-0CB1-50D3A37E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88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A545E-8C41-51E8-FEC4-76CCD737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1CC525-097C-13B2-2065-17BAB145E8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EE2C9A-3CEF-29E2-3514-47378423C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F1B9F6-C3C8-A458-99CA-7C9BA576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660F53-F0C2-1338-D423-67952416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2BE7F2-5101-4800-94B4-40ECA90B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6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FB75A-79D3-F316-C588-4FEE27AD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624706-8DAC-90A5-86B8-8C887D554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CC6CB2-7743-1F64-D610-36CBAB3D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23C636-944E-9F04-192C-9318AE05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8256E7-32AB-F175-031B-785A17A1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3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837702-AC46-FFC1-1560-F34354AFB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38A08A-E3B9-BD3D-CCAF-45BCF10A8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18D64F-6ED2-F7D5-D58F-FABC9DBA0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E2DB8-28AE-6142-1E69-6490FDE1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C71A9-F03F-A732-0D4B-15ABFDFE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54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1F4D4-2AB1-B984-7323-0E9349EC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6048B5-CD46-9F0A-AF10-49373642D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7FA4D-9B0B-2657-8AA1-177EDE333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CB108-455C-4D01-80D6-E92D3E7D956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448559-A90B-50F8-F402-A510189D1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04421D-6914-AB36-4AAC-1B3D9E338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06736-05B2-4A95-B510-CFCE6C96E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63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03C20-CE53-63EE-C8C3-FDA3AFBE1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ko-KR" dirty="0"/>
              <a:t>STM32F413 기반 차량 ECU </a:t>
            </a:r>
            <a:r>
              <a:rPr lang="ko-KR" altLang="en-US" dirty="0"/>
              <a:t>고장 진단</a:t>
            </a:r>
            <a:r>
              <a:rPr lang="ko-KR" altLang="ko-KR" dirty="0"/>
              <a:t> 시스템 개발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A7D746-E8CF-82B2-4317-68C8076495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김도훈</a:t>
            </a:r>
            <a:endParaRPr lang="en-US" altLang="ko-KR" dirty="0"/>
          </a:p>
          <a:p>
            <a:r>
              <a:rPr lang="en-US" altLang="ko-KR" dirty="0"/>
              <a:t>email : kimdouhoon98@gmail.com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1863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DDE26-0ABD-BC16-53A2-BA109F1B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B417C-66A3-E6F0-8092-2209CFB93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468246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배경 </a:t>
            </a:r>
            <a:r>
              <a:rPr lang="en-US" altLang="ko-KR" dirty="0"/>
              <a:t>: </a:t>
            </a:r>
            <a:r>
              <a:rPr lang="ko-KR" altLang="en-US" dirty="0"/>
              <a:t>신규 </a:t>
            </a:r>
            <a:r>
              <a:rPr lang="en-US" altLang="ko-KR" dirty="0"/>
              <a:t>EV </a:t>
            </a:r>
            <a:r>
              <a:rPr lang="ko-KR" altLang="en-US" dirty="0"/>
              <a:t>모델의 브레이크 시스템을 개발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요구사항 </a:t>
            </a:r>
            <a:r>
              <a:rPr lang="en-US" altLang="ko-KR" dirty="0"/>
              <a:t>: </a:t>
            </a:r>
          </a:p>
          <a:p>
            <a:pPr lvl="1"/>
            <a:r>
              <a:rPr lang="en-US" altLang="ko-KR" dirty="0"/>
              <a:t>I2C</a:t>
            </a:r>
            <a:r>
              <a:rPr lang="ko-KR" altLang="en-US" dirty="0"/>
              <a:t>로 </a:t>
            </a:r>
            <a:r>
              <a:rPr lang="en-US" altLang="ko-KR" dirty="0" err="1"/>
              <a:t>Vout</a:t>
            </a:r>
            <a:r>
              <a:rPr lang="ko-KR" altLang="en-US" dirty="0"/>
              <a:t>을 제어</a:t>
            </a:r>
            <a:endParaRPr lang="en-US" altLang="ko-KR" dirty="0"/>
          </a:p>
          <a:p>
            <a:pPr lvl="1"/>
            <a:r>
              <a:rPr lang="en-US" altLang="ko-KR" dirty="0"/>
              <a:t>UV, OV, OC </a:t>
            </a:r>
            <a:r>
              <a:rPr lang="ko-KR" altLang="en-US" dirty="0"/>
              <a:t>레지스터 </a:t>
            </a:r>
            <a:r>
              <a:rPr lang="en-US" altLang="ko-KR" dirty="0"/>
              <a:t>Read</a:t>
            </a:r>
          </a:p>
          <a:p>
            <a:pPr lvl="1"/>
            <a:r>
              <a:rPr lang="en-US" altLang="ko-KR" dirty="0"/>
              <a:t>UVLO</a:t>
            </a:r>
            <a:r>
              <a:rPr lang="ko-KR" altLang="en-US" dirty="0"/>
              <a:t>를 </a:t>
            </a:r>
            <a:r>
              <a:rPr lang="en-US" altLang="ko-KR" dirty="0"/>
              <a:t>ADC</a:t>
            </a:r>
            <a:r>
              <a:rPr lang="ko-KR" altLang="en-US" dirty="0"/>
              <a:t>를 통해 감지</a:t>
            </a:r>
            <a:endParaRPr lang="en-US" altLang="ko-KR" dirty="0"/>
          </a:p>
          <a:p>
            <a:pPr lvl="1"/>
            <a:r>
              <a:rPr lang="ko-KR" altLang="en-US" dirty="0"/>
              <a:t>고장 발생 시 </a:t>
            </a:r>
            <a:r>
              <a:rPr lang="en-US" altLang="ko-KR" dirty="0"/>
              <a:t>SPI</a:t>
            </a:r>
            <a:r>
              <a:rPr lang="ko-KR" altLang="en-US" dirty="0"/>
              <a:t>로 동작하는 </a:t>
            </a:r>
            <a:r>
              <a:rPr lang="en-US" altLang="ko-KR" dirty="0"/>
              <a:t>EEPROM</a:t>
            </a:r>
            <a:r>
              <a:rPr lang="ko-KR" altLang="en-US" dirty="0"/>
              <a:t>에 </a:t>
            </a:r>
            <a:r>
              <a:rPr lang="en-US" altLang="ko-KR" dirty="0"/>
              <a:t>DTC</a:t>
            </a:r>
            <a:r>
              <a:rPr lang="ko-KR" altLang="en-US" dirty="0"/>
              <a:t>를 저장</a:t>
            </a:r>
            <a:endParaRPr lang="en-US" altLang="ko-KR" dirty="0"/>
          </a:p>
          <a:p>
            <a:pPr lvl="1"/>
            <a:r>
              <a:rPr lang="en-US" altLang="ko-KR" dirty="0"/>
              <a:t>CAN UDS 0x19 </a:t>
            </a:r>
            <a:r>
              <a:rPr lang="ko-KR" altLang="en-US" dirty="0" err="1"/>
              <a:t>요청시</a:t>
            </a:r>
            <a:r>
              <a:rPr lang="ko-KR" altLang="en-US" dirty="0"/>
              <a:t> </a:t>
            </a:r>
            <a:r>
              <a:rPr lang="en-US" altLang="ko-KR" dirty="0"/>
              <a:t>DTC</a:t>
            </a:r>
            <a:r>
              <a:rPr lang="ko-KR" altLang="en-US" dirty="0"/>
              <a:t>를 전송</a:t>
            </a:r>
            <a:endParaRPr lang="en-US" altLang="ko-KR" dirty="0"/>
          </a:p>
          <a:p>
            <a:pPr lvl="1"/>
            <a:r>
              <a:rPr lang="en-US" altLang="ko-KR" dirty="0"/>
              <a:t>CAN UDS 0x14 </a:t>
            </a:r>
            <a:r>
              <a:rPr lang="ko-KR" altLang="en-US" dirty="0" err="1"/>
              <a:t>요청시</a:t>
            </a:r>
            <a:r>
              <a:rPr lang="ko-KR" altLang="en-US" dirty="0"/>
              <a:t> </a:t>
            </a:r>
            <a:r>
              <a:rPr lang="en-US" altLang="ko-KR" dirty="0"/>
              <a:t>EEPROM</a:t>
            </a:r>
            <a:r>
              <a:rPr lang="ko-KR" altLang="en-US" dirty="0"/>
              <a:t>의 </a:t>
            </a:r>
            <a:r>
              <a:rPr lang="en-US" altLang="ko-KR" dirty="0"/>
              <a:t>DTC</a:t>
            </a:r>
            <a:r>
              <a:rPr lang="ko-KR" altLang="en-US" dirty="0"/>
              <a:t>를 </a:t>
            </a:r>
            <a:r>
              <a:rPr lang="en-US" altLang="ko-KR" dirty="0"/>
              <a:t>clear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확장</a:t>
            </a:r>
            <a:endParaRPr lang="en-US" altLang="ko-KR" dirty="0"/>
          </a:p>
          <a:p>
            <a:pPr lvl="1"/>
            <a:r>
              <a:rPr lang="en-US" altLang="ko-KR" dirty="0"/>
              <a:t>Power-switch</a:t>
            </a:r>
            <a:r>
              <a:rPr lang="ko-KR" altLang="en-US" dirty="0"/>
              <a:t> </a:t>
            </a:r>
            <a:r>
              <a:rPr lang="en-US" altLang="ko-KR" dirty="0"/>
              <a:t>IC</a:t>
            </a:r>
            <a:r>
              <a:rPr lang="ko-KR" altLang="en-US" dirty="0"/>
              <a:t>를 통해 부하 전류가</a:t>
            </a:r>
            <a:r>
              <a:rPr lang="en-US" altLang="ko-KR" dirty="0"/>
              <a:t> </a:t>
            </a:r>
            <a:r>
              <a:rPr lang="ko-KR" altLang="en-US" dirty="0"/>
              <a:t>과전류가 되는지 감지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911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E49B-47F1-5058-FA21-76D44ABE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10088-9FA8-6C69-08B1-3769F56F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</a:t>
            </a:r>
            <a:r>
              <a:rPr lang="ko-KR" altLang="en-US" dirty="0" err="1"/>
              <a:t>아키텍쳐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05CB3D6-1701-D731-3CE9-31E34F6B5E26}"/>
              </a:ext>
            </a:extLst>
          </p:cNvPr>
          <p:cNvSpPr/>
          <p:nvPr/>
        </p:nvSpPr>
        <p:spPr>
          <a:xfrm>
            <a:off x="4836243" y="2616160"/>
            <a:ext cx="1632154" cy="1401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ECU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442CFC6-BE9A-C564-DA92-2FF7B0E73CC1}"/>
              </a:ext>
            </a:extLst>
          </p:cNvPr>
          <p:cNvSpPr/>
          <p:nvPr/>
        </p:nvSpPr>
        <p:spPr>
          <a:xfrm>
            <a:off x="1474841" y="1491672"/>
            <a:ext cx="1632154" cy="1401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PMIC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B08EB0-592F-85C9-95A0-819D8B7287F2}"/>
              </a:ext>
            </a:extLst>
          </p:cNvPr>
          <p:cNvSpPr/>
          <p:nvPr/>
        </p:nvSpPr>
        <p:spPr>
          <a:xfrm>
            <a:off x="1389027" y="4571812"/>
            <a:ext cx="1632154" cy="19883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Tranceiver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B665407-EF2A-230D-7080-A12857830136}"/>
              </a:ext>
            </a:extLst>
          </p:cNvPr>
          <p:cNvSpPr/>
          <p:nvPr/>
        </p:nvSpPr>
        <p:spPr>
          <a:xfrm>
            <a:off x="8413955" y="1441089"/>
            <a:ext cx="1632154" cy="1401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EEPROM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7ECE80-4B58-ED6A-99DA-D2AA748D38ED}"/>
              </a:ext>
            </a:extLst>
          </p:cNvPr>
          <p:cNvSpPr txBox="1"/>
          <p:nvPr/>
        </p:nvSpPr>
        <p:spPr>
          <a:xfrm>
            <a:off x="3716593" y="1915847"/>
            <a:ext cx="120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Vout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21" name="화살표: 왼쪽 20">
            <a:extLst>
              <a:ext uri="{FF2B5EF4-FFF2-40B4-BE49-F238E27FC236}">
                <a16:creationId xmlns:a16="http://schemas.microsoft.com/office/drawing/2014/main" id="{194E25FF-4A2E-6208-8FEE-F71D322D1120}"/>
              </a:ext>
            </a:extLst>
          </p:cNvPr>
          <p:cNvSpPr/>
          <p:nvPr/>
        </p:nvSpPr>
        <p:spPr>
          <a:xfrm rot="1613086">
            <a:off x="3030800" y="2269028"/>
            <a:ext cx="1881636" cy="301718"/>
          </a:xfrm>
          <a:prstGeom prst="leftArrow">
            <a:avLst>
              <a:gd name="adj1" fmla="val 17900"/>
              <a:gd name="adj2" fmla="val 45786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왼쪽 22">
            <a:extLst>
              <a:ext uri="{FF2B5EF4-FFF2-40B4-BE49-F238E27FC236}">
                <a16:creationId xmlns:a16="http://schemas.microsoft.com/office/drawing/2014/main" id="{ABD93658-940B-7090-6E27-06543AFA7C6C}"/>
              </a:ext>
            </a:extLst>
          </p:cNvPr>
          <p:cNvSpPr/>
          <p:nvPr/>
        </p:nvSpPr>
        <p:spPr>
          <a:xfrm rot="12424922">
            <a:off x="3031807" y="2744999"/>
            <a:ext cx="1881636" cy="301718"/>
          </a:xfrm>
          <a:prstGeom prst="leftArrow">
            <a:avLst>
              <a:gd name="adj1" fmla="val 17900"/>
              <a:gd name="adj2" fmla="val 457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E5A4F5-A693-6D04-47C0-945409F401D1}"/>
              </a:ext>
            </a:extLst>
          </p:cNvPr>
          <p:cNvSpPr txBox="1"/>
          <p:nvPr/>
        </p:nvSpPr>
        <p:spPr>
          <a:xfrm>
            <a:off x="2567409" y="2986855"/>
            <a:ext cx="194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(1) </a:t>
            </a:r>
            <a:r>
              <a:rPr lang="en-US" altLang="ko-KR" dirty="0"/>
              <a:t>UV,OV,OC</a:t>
            </a:r>
          </a:p>
          <a:p>
            <a:r>
              <a:rPr lang="en-US" altLang="ko-KR" dirty="0"/>
              <a:t>UVLO</a:t>
            </a:r>
            <a:r>
              <a:rPr lang="ko-KR" altLang="en-US" dirty="0"/>
              <a:t> 정보 읽기</a:t>
            </a:r>
          </a:p>
        </p:txBody>
      </p:sp>
      <p:sp>
        <p:nvSpPr>
          <p:cNvPr id="27" name="화살표: 왼쪽 26">
            <a:extLst>
              <a:ext uri="{FF2B5EF4-FFF2-40B4-BE49-F238E27FC236}">
                <a16:creationId xmlns:a16="http://schemas.microsoft.com/office/drawing/2014/main" id="{64B1E5D5-9E05-CEC4-CE83-1F51EA8F2131}"/>
              </a:ext>
            </a:extLst>
          </p:cNvPr>
          <p:cNvSpPr/>
          <p:nvPr/>
        </p:nvSpPr>
        <p:spPr>
          <a:xfrm rot="9099911">
            <a:off x="6335211" y="1930434"/>
            <a:ext cx="2211928" cy="340155"/>
          </a:xfrm>
          <a:prstGeom prst="leftArrow">
            <a:avLst>
              <a:gd name="adj1" fmla="val 17900"/>
              <a:gd name="adj2" fmla="val 457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7780D9F-E15C-EFE1-B231-F4C5CABD273B}"/>
              </a:ext>
            </a:extLst>
          </p:cNvPr>
          <p:cNvSpPr/>
          <p:nvPr/>
        </p:nvSpPr>
        <p:spPr>
          <a:xfrm>
            <a:off x="9002962" y="4571812"/>
            <a:ext cx="1632154" cy="1401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Power-switch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화살표: 왼쪽 30">
            <a:extLst>
              <a:ext uri="{FF2B5EF4-FFF2-40B4-BE49-F238E27FC236}">
                <a16:creationId xmlns:a16="http://schemas.microsoft.com/office/drawing/2014/main" id="{B3F3EB4E-B07C-3C4A-6854-B1F0743233AD}"/>
              </a:ext>
            </a:extLst>
          </p:cNvPr>
          <p:cNvSpPr/>
          <p:nvPr/>
        </p:nvSpPr>
        <p:spPr>
          <a:xfrm rot="9215800">
            <a:off x="2911021" y="4124924"/>
            <a:ext cx="1998232" cy="352702"/>
          </a:xfrm>
          <a:prstGeom prst="leftArrow">
            <a:avLst>
              <a:gd name="adj1" fmla="val 17900"/>
              <a:gd name="adj2" fmla="val 45786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왼쪽 32">
            <a:extLst>
              <a:ext uri="{FF2B5EF4-FFF2-40B4-BE49-F238E27FC236}">
                <a16:creationId xmlns:a16="http://schemas.microsoft.com/office/drawing/2014/main" id="{D22164F5-2BC1-B1F6-E815-71EA6A59F9CB}"/>
              </a:ext>
            </a:extLst>
          </p:cNvPr>
          <p:cNvSpPr/>
          <p:nvPr/>
        </p:nvSpPr>
        <p:spPr>
          <a:xfrm rot="9028821">
            <a:off x="6371147" y="2403809"/>
            <a:ext cx="2140057" cy="310923"/>
          </a:xfrm>
          <a:prstGeom prst="leftArrow">
            <a:avLst>
              <a:gd name="adj1" fmla="val 17900"/>
              <a:gd name="adj2" fmla="val 4578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A5B06-52F2-AF07-9E14-D07FE457EAF0}"/>
              </a:ext>
            </a:extLst>
          </p:cNvPr>
          <p:cNvSpPr txBox="1"/>
          <p:nvPr/>
        </p:nvSpPr>
        <p:spPr>
          <a:xfrm>
            <a:off x="1797083" y="3931819"/>
            <a:ext cx="215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92D050"/>
                </a:solidFill>
              </a:rPr>
              <a:t>(1) </a:t>
            </a:r>
            <a:r>
              <a:rPr lang="en-US" altLang="ko-KR" dirty="0"/>
              <a:t>UDS 0x19 Read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4803520-A495-F9E5-464A-6C61B3214980}"/>
              </a:ext>
            </a:extLst>
          </p:cNvPr>
          <p:cNvSpPr/>
          <p:nvPr/>
        </p:nvSpPr>
        <p:spPr>
          <a:xfrm>
            <a:off x="7010400" y="4204434"/>
            <a:ext cx="4611329" cy="219636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왼쪽/오른쪽 36">
            <a:extLst>
              <a:ext uri="{FF2B5EF4-FFF2-40B4-BE49-F238E27FC236}">
                <a16:creationId xmlns:a16="http://schemas.microsoft.com/office/drawing/2014/main" id="{60284809-0119-C396-5957-CA6B04B183C2}"/>
              </a:ext>
            </a:extLst>
          </p:cNvPr>
          <p:cNvSpPr/>
          <p:nvPr/>
        </p:nvSpPr>
        <p:spPr>
          <a:xfrm>
            <a:off x="98322" y="5145841"/>
            <a:ext cx="1216152" cy="484632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C0D30B-22B3-5EFF-803C-4FE961C74928}"/>
              </a:ext>
            </a:extLst>
          </p:cNvPr>
          <p:cNvSpPr txBox="1"/>
          <p:nvPr/>
        </p:nvSpPr>
        <p:spPr>
          <a:xfrm>
            <a:off x="0" y="47188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외부 </a:t>
            </a:r>
            <a:r>
              <a:rPr lang="ko-KR" altLang="en-US" dirty="0" err="1"/>
              <a:t>진단기</a:t>
            </a:r>
            <a:endParaRPr lang="ko-KR" altLang="en-US" dirty="0"/>
          </a:p>
        </p:txBody>
      </p:sp>
      <p:sp>
        <p:nvSpPr>
          <p:cNvPr id="43" name="화살표: 왼쪽 42">
            <a:extLst>
              <a:ext uri="{FF2B5EF4-FFF2-40B4-BE49-F238E27FC236}">
                <a16:creationId xmlns:a16="http://schemas.microsoft.com/office/drawing/2014/main" id="{EE4E4E05-4A84-0DD6-1B3E-1E3F79C62CD9}"/>
              </a:ext>
            </a:extLst>
          </p:cNvPr>
          <p:cNvSpPr/>
          <p:nvPr/>
        </p:nvSpPr>
        <p:spPr>
          <a:xfrm rot="20002304">
            <a:off x="2972503" y="4425987"/>
            <a:ext cx="1998232" cy="352702"/>
          </a:xfrm>
          <a:prstGeom prst="leftArrow">
            <a:avLst>
              <a:gd name="adj1" fmla="val 17900"/>
              <a:gd name="adj2" fmla="val 45786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ACD4E5-5E81-14ED-45E6-F2522E33C998}"/>
              </a:ext>
            </a:extLst>
          </p:cNvPr>
          <p:cNvSpPr txBox="1"/>
          <p:nvPr/>
        </p:nvSpPr>
        <p:spPr>
          <a:xfrm>
            <a:off x="2949717" y="5101605"/>
            <a:ext cx="148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92D050"/>
                </a:solidFill>
              </a:rPr>
              <a:t>(2) </a:t>
            </a:r>
            <a:r>
              <a:rPr lang="en-US" altLang="ko-KR" dirty="0"/>
              <a:t>DTC </a:t>
            </a:r>
            <a:r>
              <a:rPr lang="ko-KR" altLang="en-US" dirty="0"/>
              <a:t>전송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FC71CB-4F3C-4406-AEC6-A7475FD23BCD}"/>
              </a:ext>
            </a:extLst>
          </p:cNvPr>
          <p:cNvSpPr txBox="1"/>
          <p:nvPr/>
        </p:nvSpPr>
        <p:spPr>
          <a:xfrm>
            <a:off x="3106995" y="5855467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(1) </a:t>
            </a:r>
            <a:r>
              <a:rPr lang="en-US" altLang="ko-KR" dirty="0"/>
              <a:t>UDS 0x14 Clear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081306-71B8-895D-0574-CD9B750982F2}"/>
              </a:ext>
            </a:extLst>
          </p:cNvPr>
          <p:cNvSpPr txBox="1"/>
          <p:nvPr/>
        </p:nvSpPr>
        <p:spPr>
          <a:xfrm>
            <a:off x="5805007" y="1260375"/>
            <a:ext cx="24266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(2) </a:t>
            </a:r>
            <a:r>
              <a:rPr lang="en-US" altLang="ko-KR" dirty="0"/>
              <a:t>UV, OV, OC, UVLO</a:t>
            </a:r>
          </a:p>
          <a:p>
            <a:r>
              <a:rPr lang="ko-KR" altLang="en-US" dirty="0"/>
              <a:t>정보 저장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고장 시에만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E1837F-7632-5A52-B08D-47A9A16ADB8E}"/>
              </a:ext>
            </a:extLst>
          </p:cNvPr>
          <p:cNvSpPr txBox="1"/>
          <p:nvPr/>
        </p:nvSpPr>
        <p:spPr>
          <a:xfrm>
            <a:off x="6854617" y="2755163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(2) </a:t>
            </a:r>
            <a:r>
              <a:rPr lang="ko-KR" altLang="en-US" dirty="0"/>
              <a:t>고장 정보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55" name="화살표: 왼쪽 54">
            <a:extLst>
              <a:ext uri="{FF2B5EF4-FFF2-40B4-BE49-F238E27FC236}">
                <a16:creationId xmlns:a16="http://schemas.microsoft.com/office/drawing/2014/main" id="{67FCCC50-A5FD-5A65-BDEA-A14B1ABB7DBF}"/>
              </a:ext>
            </a:extLst>
          </p:cNvPr>
          <p:cNvSpPr/>
          <p:nvPr/>
        </p:nvSpPr>
        <p:spPr>
          <a:xfrm rot="1090762">
            <a:off x="6459061" y="4184397"/>
            <a:ext cx="2560933" cy="371072"/>
          </a:xfrm>
          <a:prstGeom prst="leftArrow">
            <a:avLst>
              <a:gd name="adj1" fmla="val 17900"/>
              <a:gd name="adj2" fmla="val 45786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1D00BB-CDF7-BB5B-B67C-4A1CA7D7B86B}"/>
              </a:ext>
            </a:extLst>
          </p:cNvPr>
          <p:cNvSpPr txBox="1"/>
          <p:nvPr/>
        </p:nvSpPr>
        <p:spPr>
          <a:xfrm>
            <a:off x="6974639" y="4602338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(1) </a:t>
            </a:r>
            <a:r>
              <a:rPr lang="ko-KR" altLang="en-US" dirty="0"/>
              <a:t>과전류 감지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CE7052-F0E6-455E-74FB-914F12395E89}"/>
              </a:ext>
            </a:extLst>
          </p:cNvPr>
          <p:cNvSpPr txBox="1"/>
          <p:nvPr/>
        </p:nvSpPr>
        <p:spPr>
          <a:xfrm>
            <a:off x="9478389" y="3165331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(2) </a:t>
            </a:r>
            <a:r>
              <a:rPr lang="ko-KR" altLang="en-US" dirty="0"/>
              <a:t>과전류 정보 저장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고장 시에만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2" name="화살표: 굽음 61">
            <a:extLst>
              <a:ext uri="{FF2B5EF4-FFF2-40B4-BE49-F238E27FC236}">
                <a16:creationId xmlns:a16="http://schemas.microsoft.com/office/drawing/2014/main" id="{0EDA644E-FB31-53BF-DB67-6EDF4BAF962B}"/>
              </a:ext>
            </a:extLst>
          </p:cNvPr>
          <p:cNvSpPr/>
          <p:nvPr/>
        </p:nvSpPr>
        <p:spPr>
          <a:xfrm rot="5400000" flipH="1">
            <a:off x="3349746" y="3777265"/>
            <a:ext cx="2280013" cy="2917526"/>
          </a:xfrm>
          <a:prstGeom prst="bentArrow">
            <a:avLst>
              <a:gd name="adj1" fmla="val 3438"/>
              <a:gd name="adj2" fmla="val 11847"/>
              <a:gd name="adj3" fmla="val 9907"/>
              <a:gd name="adj4" fmla="val 3814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화살표: 굽음 62">
            <a:extLst>
              <a:ext uri="{FF2B5EF4-FFF2-40B4-BE49-F238E27FC236}">
                <a16:creationId xmlns:a16="http://schemas.microsoft.com/office/drawing/2014/main" id="{E9FFE866-A359-A6C0-0803-C18368ABE6CD}"/>
              </a:ext>
            </a:extLst>
          </p:cNvPr>
          <p:cNvSpPr/>
          <p:nvPr/>
        </p:nvSpPr>
        <p:spPr>
          <a:xfrm rot="5400000" flipH="1">
            <a:off x="7546546" y="1852402"/>
            <a:ext cx="883778" cy="2979908"/>
          </a:xfrm>
          <a:prstGeom prst="bentArrow">
            <a:avLst>
              <a:gd name="adj1" fmla="val 6087"/>
              <a:gd name="adj2" fmla="val 13318"/>
              <a:gd name="adj3" fmla="val 12762"/>
              <a:gd name="adj4" fmla="val 42637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06BBBD-C25E-2E15-B557-BBD9696E3BE3}"/>
              </a:ext>
            </a:extLst>
          </p:cNvPr>
          <p:cNvSpPr txBox="1"/>
          <p:nvPr/>
        </p:nvSpPr>
        <p:spPr>
          <a:xfrm>
            <a:off x="8721189" y="645165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확장 기능</a:t>
            </a:r>
          </a:p>
        </p:txBody>
      </p:sp>
    </p:spTree>
    <p:extLst>
      <p:ext uri="{BB962C8B-B14F-4D97-AF65-F5344CB8AC3E}">
        <p14:creationId xmlns:p14="http://schemas.microsoft.com/office/powerpoint/2010/main" val="2064950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EBC2-1B5B-5599-6E22-978F0E1F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3243A-5991-76D4-1A79-B8296900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IC </a:t>
            </a:r>
            <a:r>
              <a:rPr lang="ko-KR" altLang="en-US" dirty="0"/>
              <a:t>분석 </a:t>
            </a:r>
            <a:r>
              <a:rPr lang="en-US" altLang="ko-KR" dirty="0"/>
              <a:t>(PMIC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MP5475)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986E299-924E-786E-13F1-E3CE1B68A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16249"/>
              </p:ext>
            </p:extLst>
          </p:nvPr>
        </p:nvGraphicFramePr>
        <p:xfrm>
          <a:off x="985684" y="1501134"/>
          <a:ext cx="524387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487">
                  <a:extLst>
                    <a:ext uri="{9D8B030D-6E8A-4147-A177-3AD203B41FA5}">
                      <a16:colId xmlns:a16="http://schemas.microsoft.com/office/drawing/2014/main" val="1317882026"/>
                    </a:ext>
                  </a:extLst>
                </a:gridCol>
                <a:gridCol w="3202386">
                  <a:extLst>
                    <a:ext uri="{9D8B030D-6E8A-4147-A177-3AD203B41FA5}">
                      <a16:colId xmlns:a16="http://schemas.microsoft.com/office/drawing/2014/main" val="1801095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주요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0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 전압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 ~ 16V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5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출력 채널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Buck</a:t>
                      </a:r>
                      <a:r>
                        <a:rPr lang="ko-KR" altLang="ko-KR" dirty="0"/>
                        <a:t> </a:t>
                      </a:r>
                      <a:r>
                        <a:rPr lang="ko-KR" altLang="ko-KR" dirty="0" err="1"/>
                        <a:t>Converter</a:t>
                      </a:r>
                      <a:r>
                        <a:rPr lang="ko-KR" altLang="ko-KR" dirty="0"/>
                        <a:t> 4채널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15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채널별 출력 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최대 6A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23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제어 인터페이스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I2C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29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내부 VREF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0.3~2.048V, 2mV 단위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7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보호 기능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UVP, OVP, OCP,</a:t>
                      </a:r>
                      <a:r>
                        <a:rPr lang="en-US" altLang="ko-KR" dirty="0"/>
                        <a:t> UVLO,</a:t>
                      </a:r>
                    </a:p>
                    <a:p>
                      <a:pPr latinLnBrk="1"/>
                      <a:r>
                        <a:rPr lang="ko-KR" altLang="ko-KR" dirty="0" err="1"/>
                        <a:t>Thermal</a:t>
                      </a:r>
                      <a:r>
                        <a:rPr lang="ko-KR" altLang="ko-KR" dirty="0"/>
                        <a:t> </a:t>
                      </a:r>
                      <a:r>
                        <a:rPr lang="ko-KR" altLang="ko-KR" dirty="0" err="1"/>
                        <a:t>Shutdown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8411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91A0FA2-BB27-3E4D-044F-88E3B4721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870054"/>
              </p:ext>
            </p:extLst>
          </p:nvPr>
        </p:nvGraphicFramePr>
        <p:xfrm>
          <a:off x="985684" y="4678383"/>
          <a:ext cx="79715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866">
                  <a:extLst>
                    <a:ext uri="{9D8B030D-6E8A-4147-A177-3AD203B41FA5}">
                      <a16:colId xmlns:a16="http://schemas.microsoft.com/office/drawing/2014/main" val="1317882026"/>
                    </a:ext>
                  </a:extLst>
                </a:gridCol>
                <a:gridCol w="3102448">
                  <a:extLst>
                    <a:ext uri="{9D8B030D-6E8A-4147-A177-3AD203B41FA5}">
                      <a16:colId xmlns:a16="http://schemas.microsoft.com/office/drawing/2014/main" val="1801095769"/>
                    </a:ext>
                  </a:extLst>
                </a:gridCol>
                <a:gridCol w="2810190">
                  <a:extLst>
                    <a:ext uri="{9D8B030D-6E8A-4147-A177-3AD203B41FA5}">
                      <a16:colId xmlns:a16="http://schemas.microsoft.com/office/drawing/2014/main" val="671593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주요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활용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0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0x07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Buck</a:t>
                      </a:r>
                      <a:r>
                        <a:rPr lang="ko-KR" altLang="ko-KR" dirty="0"/>
                        <a:t> UV/OV 상태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저전압</a:t>
                      </a:r>
                      <a:r>
                        <a:rPr lang="ko-KR" altLang="ko-KR" dirty="0"/>
                        <a:t> 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ko-KR" dirty="0"/>
                        <a:t>과전압 감지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5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0x08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Buck</a:t>
                      </a:r>
                      <a:r>
                        <a:rPr lang="ko-KR" altLang="ko-KR" dirty="0"/>
                        <a:t> OC/OC </a:t>
                      </a:r>
                      <a:r>
                        <a:rPr lang="ko-KR" altLang="ko-KR" dirty="0" err="1"/>
                        <a:t>Warning</a:t>
                      </a:r>
                      <a:r>
                        <a:rPr lang="ko-KR" altLang="ko-KR" dirty="0"/>
                        <a:t> 상태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과전류 및 경고 확인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15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0x13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VREF </a:t>
                      </a:r>
                      <a:r>
                        <a:rPr lang="ko-KR" altLang="ko-KR" dirty="0" err="1"/>
                        <a:t>A</a:t>
                      </a:r>
                      <a:r>
                        <a:rPr lang="ko-KR" altLang="ko-KR" dirty="0"/>
                        <a:t> HIGH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기준 전압 상위 비트 설정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23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0x14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VREF </a:t>
                      </a:r>
                      <a:r>
                        <a:rPr lang="ko-KR" altLang="ko-KR" dirty="0" err="1"/>
                        <a:t>A</a:t>
                      </a:r>
                      <a:r>
                        <a:rPr lang="ko-KR" altLang="ko-KR" dirty="0"/>
                        <a:t> LOW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기준 전압 하위 비트 설정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293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3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29319-983C-63D7-FBC5-33A4E2189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RTOS </a:t>
            </a:r>
            <a:r>
              <a:rPr lang="ko-KR" altLang="en-US" dirty="0"/>
              <a:t>기반 시스템 설계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FF48B4-D263-4CB4-DB4E-8661DEF6EACE}"/>
              </a:ext>
            </a:extLst>
          </p:cNvPr>
          <p:cNvSpPr/>
          <p:nvPr/>
        </p:nvSpPr>
        <p:spPr>
          <a:xfrm>
            <a:off x="196947" y="2067299"/>
            <a:ext cx="3814916" cy="45667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265D45-F9B0-E307-29B2-A1F9609320A9}"/>
              </a:ext>
            </a:extLst>
          </p:cNvPr>
          <p:cNvSpPr/>
          <p:nvPr/>
        </p:nvSpPr>
        <p:spPr>
          <a:xfrm>
            <a:off x="8153755" y="1999057"/>
            <a:ext cx="3814916" cy="4609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BF079-C236-D175-79A8-103DCD32498E}"/>
              </a:ext>
            </a:extLst>
          </p:cNvPr>
          <p:cNvSpPr txBox="1"/>
          <p:nvPr/>
        </p:nvSpPr>
        <p:spPr>
          <a:xfrm>
            <a:off x="1598448" y="1629725"/>
            <a:ext cx="112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1ms Task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306CA-EF0B-D6F5-7074-8664F3C2F784}"/>
              </a:ext>
            </a:extLst>
          </p:cNvPr>
          <p:cNvSpPr txBox="1"/>
          <p:nvPr/>
        </p:nvSpPr>
        <p:spPr>
          <a:xfrm>
            <a:off x="9527530" y="1629725"/>
            <a:ext cx="112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5ms Task</a:t>
            </a:r>
            <a:endParaRPr lang="ko-KR" altLang="en-US" dirty="0"/>
          </a:p>
        </p:txBody>
      </p:sp>
      <p:pic>
        <p:nvPicPr>
          <p:cNvPr id="11" name="그래픽 10" descr="키 윤곽선">
            <a:extLst>
              <a:ext uri="{FF2B5EF4-FFF2-40B4-BE49-F238E27FC236}">
                <a16:creationId xmlns:a16="http://schemas.microsoft.com/office/drawing/2014/main" id="{CD2AD3E9-5C61-FD82-52AD-24E15D8E4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6400" y="1434112"/>
            <a:ext cx="1442847" cy="10968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C44A05-8D4E-CDBD-5107-2D94CC86342C}"/>
              </a:ext>
            </a:extLst>
          </p:cNvPr>
          <p:cNvSpPr txBox="1"/>
          <p:nvPr/>
        </p:nvSpPr>
        <p:spPr>
          <a:xfrm>
            <a:off x="5292645" y="1327211"/>
            <a:ext cx="83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mutex</a:t>
            </a:r>
            <a:endParaRPr lang="ko-KR" altLang="en-US" dirty="0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7F2B2C9D-605E-7415-E620-D705549FC793}"/>
              </a:ext>
            </a:extLst>
          </p:cNvPr>
          <p:cNvSpPr/>
          <p:nvPr/>
        </p:nvSpPr>
        <p:spPr>
          <a:xfrm rot="10049208">
            <a:off x="3022633" y="1888008"/>
            <a:ext cx="1803131" cy="32607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94675F8-E533-9A09-DE51-C3553880E74D}"/>
              </a:ext>
            </a:extLst>
          </p:cNvPr>
          <p:cNvSpPr/>
          <p:nvPr/>
        </p:nvSpPr>
        <p:spPr>
          <a:xfrm>
            <a:off x="1188427" y="2136187"/>
            <a:ext cx="1764401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09595B-1445-4F77-75BD-DCC3233D1086}"/>
              </a:ext>
            </a:extLst>
          </p:cNvPr>
          <p:cNvSpPr txBox="1"/>
          <p:nvPr/>
        </p:nvSpPr>
        <p:spPr>
          <a:xfrm>
            <a:off x="1383740" y="2222321"/>
            <a:ext cx="137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mutex</a:t>
            </a:r>
            <a:r>
              <a:rPr lang="ko-KR" altLang="en-US" dirty="0"/>
              <a:t> 획득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A507486-804D-8D32-3898-501B8DA8E764}"/>
              </a:ext>
            </a:extLst>
          </p:cNvPr>
          <p:cNvSpPr/>
          <p:nvPr/>
        </p:nvSpPr>
        <p:spPr>
          <a:xfrm>
            <a:off x="9179012" y="2067299"/>
            <a:ext cx="1764401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EA8982-7997-5410-260A-7312300AED9C}"/>
              </a:ext>
            </a:extLst>
          </p:cNvPr>
          <p:cNvSpPr txBox="1"/>
          <p:nvPr/>
        </p:nvSpPr>
        <p:spPr>
          <a:xfrm>
            <a:off x="9378616" y="2161624"/>
            <a:ext cx="137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mutex</a:t>
            </a:r>
            <a:r>
              <a:rPr lang="ko-KR" altLang="en-US" dirty="0"/>
              <a:t> 획득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80B20800-EDD0-BCC0-6C76-B5ABA0E5324D}"/>
              </a:ext>
            </a:extLst>
          </p:cNvPr>
          <p:cNvSpPr/>
          <p:nvPr/>
        </p:nvSpPr>
        <p:spPr>
          <a:xfrm rot="422864">
            <a:off x="6543750" y="1848210"/>
            <a:ext cx="2295109" cy="33193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1406883-C8A3-DCD4-3752-CA49F6AC74D0}"/>
              </a:ext>
            </a:extLst>
          </p:cNvPr>
          <p:cNvSpPr/>
          <p:nvPr/>
        </p:nvSpPr>
        <p:spPr>
          <a:xfrm>
            <a:off x="443471" y="2857860"/>
            <a:ext cx="3384067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D8F56D-7D6C-36E2-E09D-A291BEDD6C68}"/>
              </a:ext>
            </a:extLst>
          </p:cNvPr>
          <p:cNvSpPr txBox="1"/>
          <p:nvPr/>
        </p:nvSpPr>
        <p:spPr>
          <a:xfrm>
            <a:off x="590468" y="2947676"/>
            <a:ext cx="306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PMIC</a:t>
            </a:r>
            <a:r>
              <a:rPr lang="ko-KR" altLang="en-US" dirty="0"/>
              <a:t>로부터 </a:t>
            </a:r>
            <a:r>
              <a:rPr lang="en-US" altLang="ko-KR" dirty="0"/>
              <a:t>UV,OV,OC</a:t>
            </a:r>
            <a:r>
              <a:rPr lang="ko-KR" altLang="en-US" dirty="0"/>
              <a:t> 읽기</a:t>
            </a:r>
          </a:p>
        </p:txBody>
      </p:sp>
      <p:sp>
        <p:nvSpPr>
          <p:cNvPr id="36" name="다이아몬드 35">
            <a:extLst>
              <a:ext uri="{FF2B5EF4-FFF2-40B4-BE49-F238E27FC236}">
                <a16:creationId xmlns:a16="http://schemas.microsoft.com/office/drawing/2014/main" id="{D7199C88-FA5E-2710-47C1-38F0D721C0E4}"/>
              </a:ext>
            </a:extLst>
          </p:cNvPr>
          <p:cNvSpPr/>
          <p:nvPr/>
        </p:nvSpPr>
        <p:spPr>
          <a:xfrm>
            <a:off x="877036" y="4244815"/>
            <a:ext cx="2399071" cy="73930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4A45C1-6E83-0B8E-3EC3-9B0079B14C7B}"/>
              </a:ext>
            </a:extLst>
          </p:cNvPr>
          <p:cNvSpPr txBox="1"/>
          <p:nvPr/>
        </p:nvSpPr>
        <p:spPr>
          <a:xfrm>
            <a:off x="1159094" y="4429803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CAN </a:t>
            </a:r>
            <a:r>
              <a:rPr lang="ko-KR" altLang="en-US" dirty="0"/>
              <a:t>수신 있음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C81D3-EB60-1E7A-C089-75C020F352ED}"/>
              </a:ext>
            </a:extLst>
          </p:cNvPr>
          <p:cNvSpPr txBox="1"/>
          <p:nvPr/>
        </p:nvSpPr>
        <p:spPr>
          <a:xfrm>
            <a:off x="1354407" y="5902388"/>
            <a:ext cx="137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mutex</a:t>
            </a:r>
            <a:r>
              <a:rPr lang="ko-KR" altLang="en-US" dirty="0"/>
              <a:t> 반납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8B13FF-AD4A-600C-FEE1-DFA1EA76986D}"/>
              </a:ext>
            </a:extLst>
          </p:cNvPr>
          <p:cNvSpPr/>
          <p:nvPr/>
        </p:nvSpPr>
        <p:spPr>
          <a:xfrm>
            <a:off x="1159094" y="5844233"/>
            <a:ext cx="1764401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A5546E-B4E2-D934-BAD7-58FE93B49D77}"/>
              </a:ext>
            </a:extLst>
          </p:cNvPr>
          <p:cNvSpPr txBox="1"/>
          <p:nvPr/>
        </p:nvSpPr>
        <p:spPr>
          <a:xfrm>
            <a:off x="388452" y="5227249"/>
            <a:ext cx="3431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UDS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/>
              <a:t>에 따라 </a:t>
            </a:r>
            <a:r>
              <a:rPr lang="en-US" altLang="ko-KR" dirty="0"/>
              <a:t>DTC Read/Clear</a:t>
            </a:r>
            <a:endParaRPr lang="ko-KR" altLang="en-US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4D0B180-FEA3-E95F-4375-DEB23ABE7EC7}"/>
              </a:ext>
            </a:extLst>
          </p:cNvPr>
          <p:cNvSpPr/>
          <p:nvPr/>
        </p:nvSpPr>
        <p:spPr>
          <a:xfrm>
            <a:off x="349260" y="5132925"/>
            <a:ext cx="3526722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화살표: 아래쪽 48">
            <a:extLst>
              <a:ext uri="{FF2B5EF4-FFF2-40B4-BE49-F238E27FC236}">
                <a16:creationId xmlns:a16="http://schemas.microsoft.com/office/drawing/2014/main" id="{A0986017-0487-6743-7CEB-F199C47B7952}"/>
              </a:ext>
            </a:extLst>
          </p:cNvPr>
          <p:cNvSpPr/>
          <p:nvPr/>
        </p:nvSpPr>
        <p:spPr>
          <a:xfrm>
            <a:off x="1933611" y="2679905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03146E7A-BE48-BBC1-3C57-CD1C66B95896}"/>
              </a:ext>
            </a:extLst>
          </p:cNvPr>
          <p:cNvSpPr/>
          <p:nvPr/>
        </p:nvSpPr>
        <p:spPr>
          <a:xfrm>
            <a:off x="1939099" y="4053821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D9CBB9BC-00B9-C7DC-00CC-BB940332E9C2}"/>
              </a:ext>
            </a:extLst>
          </p:cNvPr>
          <p:cNvSpPr/>
          <p:nvPr/>
        </p:nvSpPr>
        <p:spPr>
          <a:xfrm>
            <a:off x="1899219" y="4912799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38EFC-8710-5548-9E4C-78FD0B0A0780}"/>
              </a:ext>
            </a:extLst>
          </p:cNvPr>
          <p:cNvSpPr txBox="1"/>
          <p:nvPr/>
        </p:nvSpPr>
        <p:spPr>
          <a:xfrm>
            <a:off x="1490966" y="4874735"/>
            <a:ext cx="408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56" name="화살표: U자형 55">
            <a:extLst>
              <a:ext uri="{FF2B5EF4-FFF2-40B4-BE49-F238E27FC236}">
                <a16:creationId xmlns:a16="http://schemas.microsoft.com/office/drawing/2014/main" id="{424B652D-1ECB-1D9E-10E5-04F7C1266DBD}"/>
              </a:ext>
            </a:extLst>
          </p:cNvPr>
          <p:cNvSpPr/>
          <p:nvPr/>
        </p:nvSpPr>
        <p:spPr>
          <a:xfrm rot="5400000">
            <a:off x="2797864" y="4661622"/>
            <a:ext cx="1656739" cy="1369334"/>
          </a:xfrm>
          <a:prstGeom prst="uturnArrow">
            <a:avLst>
              <a:gd name="adj1" fmla="val 11594"/>
              <a:gd name="adj2" fmla="val 12976"/>
              <a:gd name="adj3" fmla="val 23447"/>
              <a:gd name="adj4" fmla="val 34060"/>
              <a:gd name="adj5" fmla="val 10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7E6F8F-4DCA-6372-F5C3-03D18FF188AA}"/>
              </a:ext>
            </a:extLst>
          </p:cNvPr>
          <p:cNvSpPr txBox="1"/>
          <p:nvPr/>
        </p:nvSpPr>
        <p:spPr>
          <a:xfrm>
            <a:off x="3431260" y="4211809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F91BF75-40EE-CD0A-4938-21A7420E2975}"/>
              </a:ext>
            </a:extLst>
          </p:cNvPr>
          <p:cNvSpPr/>
          <p:nvPr/>
        </p:nvSpPr>
        <p:spPr>
          <a:xfrm>
            <a:off x="8624417" y="2793982"/>
            <a:ext cx="2873590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F4074E-636C-06E4-58EB-7755BA577330}"/>
              </a:ext>
            </a:extLst>
          </p:cNvPr>
          <p:cNvSpPr txBox="1"/>
          <p:nvPr/>
        </p:nvSpPr>
        <p:spPr>
          <a:xfrm>
            <a:off x="8728451" y="2900288"/>
            <a:ext cx="2641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PMIC</a:t>
            </a:r>
            <a:r>
              <a:rPr lang="ko-KR" altLang="en-US" dirty="0"/>
              <a:t>로부터 </a:t>
            </a:r>
            <a:r>
              <a:rPr lang="en-US" altLang="ko-KR" dirty="0"/>
              <a:t>UVLO </a:t>
            </a:r>
            <a:r>
              <a:rPr lang="ko-KR" altLang="en-US" dirty="0"/>
              <a:t>읽기</a:t>
            </a:r>
          </a:p>
        </p:txBody>
      </p:sp>
      <p:sp>
        <p:nvSpPr>
          <p:cNvPr id="64" name="화살표: 아래쪽 63">
            <a:extLst>
              <a:ext uri="{FF2B5EF4-FFF2-40B4-BE49-F238E27FC236}">
                <a16:creationId xmlns:a16="http://schemas.microsoft.com/office/drawing/2014/main" id="{7A9B81E9-07AF-9273-F885-0BB8630BF42F}"/>
              </a:ext>
            </a:extLst>
          </p:cNvPr>
          <p:cNvSpPr/>
          <p:nvPr/>
        </p:nvSpPr>
        <p:spPr>
          <a:xfrm>
            <a:off x="9901713" y="2584078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D32CF95-89D8-2A54-8FE9-FC257D593289}"/>
              </a:ext>
            </a:extLst>
          </p:cNvPr>
          <p:cNvSpPr/>
          <p:nvPr/>
        </p:nvSpPr>
        <p:spPr>
          <a:xfrm>
            <a:off x="8368752" y="4231767"/>
            <a:ext cx="3447290" cy="55798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53969B8-E8EF-CF8A-584D-A9CEE6381FE3}"/>
              </a:ext>
            </a:extLst>
          </p:cNvPr>
          <p:cNvSpPr txBox="1"/>
          <p:nvPr/>
        </p:nvSpPr>
        <p:spPr>
          <a:xfrm>
            <a:off x="8368752" y="4333253"/>
            <a:ext cx="35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Power-switch</a:t>
            </a:r>
            <a:r>
              <a:rPr lang="ko-KR" altLang="en-US" dirty="0"/>
              <a:t>로부터 과전류 감지</a:t>
            </a:r>
          </a:p>
        </p:txBody>
      </p:sp>
      <p:sp>
        <p:nvSpPr>
          <p:cNvPr id="72" name="화살표: 아래쪽 71">
            <a:extLst>
              <a:ext uri="{FF2B5EF4-FFF2-40B4-BE49-F238E27FC236}">
                <a16:creationId xmlns:a16="http://schemas.microsoft.com/office/drawing/2014/main" id="{A256D8EF-9C21-A8BE-6E93-2187D9DF4197}"/>
              </a:ext>
            </a:extLst>
          </p:cNvPr>
          <p:cNvSpPr/>
          <p:nvPr/>
        </p:nvSpPr>
        <p:spPr>
          <a:xfrm>
            <a:off x="9906213" y="4038191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B5223EF-9DAE-0794-0593-72ED8909A302}"/>
              </a:ext>
            </a:extLst>
          </p:cNvPr>
          <p:cNvSpPr/>
          <p:nvPr/>
        </p:nvSpPr>
        <p:spPr>
          <a:xfrm>
            <a:off x="8624417" y="5714111"/>
            <a:ext cx="2873590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49F3C3-5C5D-8C1D-CAF4-73E9D1D5E6E6}"/>
              </a:ext>
            </a:extLst>
          </p:cNvPr>
          <p:cNvSpPr txBox="1"/>
          <p:nvPr/>
        </p:nvSpPr>
        <p:spPr>
          <a:xfrm>
            <a:off x="8728451" y="5820417"/>
            <a:ext cx="2613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고장 정보 </a:t>
            </a:r>
            <a:r>
              <a:rPr lang="en-US" altLang="ko-KR" dirty="0"/>
              <a:t>UART</a:t>
            </a:r>
            <a:r>
              <a:rPr lang="ko-KR" altLang="en-US" dirty="0"/>
              <a:t>로 출력</a:t>
            </a:r>
          </a:p>
        </p:txBody>
      </p:sp>
      <p:sp>
        <p:nvSpPr>
          <p:cNvPr id="78" name="화살표: 아래쪽 77">
            <a:extLst>
              <a:ext uri="{FF2B5EF4-FFF2-40B4-BE49-F238E27FC236}">
                <a16:creationId xmlns:a16="http://schemas.microsoft.com/office/drawing/2014/main" id="{1CC3D8FC-0E10-E763-FE45-C1A930E5406C}"/>
              </a:ext>
            </a:extLst>
          </p:cNvPr>
          <p:cNvSpPr/>
          <p:nvPr/>
        </p:nvSpPr>
        <p:spPr>
          <a:xfrm>
            <a:off x="9885404" y="5518046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굽음 4">
            <a:extLst>
              <a:ext uri="{FF2B5EF4-FFF2-40B4-BE49-F238E27FC236}">
                <a16:creationId xmlns:a16="http://schemas.microsoft.com/office/drawing/2014/main" id="{4B29A197-9645-2DBA-B362-8432EBA9232C}"/>
              </a:ext>
            </a:extLst>
          </p:cNvPr>
          <p:cNvSpPr/>
          <p:nvPr/>
        </p:nvSpPr>
        <p:spPr>
          <a:xfrm rot="16200000" flipV="1">
            <a:off x="1914006" y="3193191"/>
            <a:ext cx="4156635" cy="2103246"/>
          </a:xfrm>
          <a:prstGeom prst="bentArrow">
            <a:avLst>
              <a:gd name="adj1" fmla="val 6653"/>
              <a:gd name="adj2" fmla="val 8029"/>
              <a:gd name="adj3" fmla="val 12157"/>
              <a:gd name="adj4" fmla="val 2907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DB92BA6-B9EF-B0BF-7B03-A9E14AB641E1}"/>
              </a:ext>
            </a:extLst>
          </p:cNvPr>
          <p:cNvSpPr/>
          <p:nvPr/>
        </p:nvSpPr>
        <p:spPr>
          <a:xfrm>
            <a:off x="513761" y="3585928"/>
            <a:ext cx="3225347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1C0C69-12A4-0B71-AD15-F286A12A7EE6}"/>
              </a:ext>
            </a:extLst>
          </p:cNvPr>
          <p:cNvSpPr txBox="1"/>
          <p:nvPr/>
        </p:nvSpPr>
        <p:spPr>
          <a:xfrm>
            <a:off x="690157" y="3680252"/>
            <a:ext cx="281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EEPROM</a:t>
            </a:r>
            <a:r>
              <a:rPr lang="ko-KR" altLang="en-US" dirty="0"/>
              <a:t>에 </a:t>
            </a:r>
            <a:r>
              <a:rPr lang="en-US" altLang="ko-KR" dirty="0"/>
              <a:t>DTC </a:t>
            </a:r>
            <a:r>
              <a:rPr lang="ko-KR" altLang="en-US" dirty="0"/>
              <a:t>저장하기</a:t>
            </a: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29D54E63-C7DD-181A-1E17-54CF6A49BC34}"/>
              </a:ext>
            </a:extLst>
          </p:cNvPr>
          <p:cNvSpPr/>
          <p:nvPr/>
        </p:nvSpPr>
        <p:spPr>
          <a:xfrm>
            <a:off x="1933611" y="3411359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36D2E4EC-758A-3B4E-B18E-721FC405C758}"/>
              </a:ext>
            </a:extLst>
          </p:cNvPr>
          <p:cNvSpPr/>
          <p:nvPr/>
        </p:nvSpPr>
        <p:spPr>
          <a:xfrm>
            <a:off x="1868346" y="5646160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12A9F86-D757-497D-8D53-95C29D7E5DA6}"/>
              </a:ext>
            </a:extLst>
          </p:cNvPr>
          <p:cNvSpPr/>
          <p:nvPr/>
        </p:nvSpPr>
        <p:spPr>
          <a:xfrm>
            <a:off x="8508685" y="3520148"/>
            <a:ext cx="3225347" cy="5579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BA00CC-409B-A80B-9D95-5CE3B51FA2B5}"/>
              </a:ext>
            </a:extLst>
          </p:cNvPr>
          <p:cNvSpPr txBox="1"/>
          <p:nvPr/>
        </p:nvSpPr>
        <p:spPr>
          <a:xfrm>
            <a:off x="8686788" y="3582758"/>
            <a:ext cx="281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EEPROM</a:t>
            </a:r>
            <a:r>
              <a:rPr lang="ko-KR" altLang="en-US" dirty="0"/>
              <a:t>에 </a:t>
            </a:r>
            <a:r>
              <a:rPr lang="en-US" altLang="ko-KR" dirty="0"/>
              <a:t>DTC </a:t>
            </a:r>
            <a:r>
              <a:rPr lang="ko-KR" altLang="en-US" dirty="0"/>
              <a:t>저장하기</a:t>
            </a: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BF5791F9-38AD-9EF0-68E8-76C7BEF1AA14}"/>
              </a:ext>
            </a:extLst>
          </p:cNvPr>
          <p:cNvSpPr/>
          <p:nvPr/>
        </p:nvSpPr>
        <p:spPr>
          <a:xfrm>
            <a:off x="9901713" y="3326530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FD7DEFB-FEE2-67E3-ACC9-DC19BAEC0875}"/>
              </a:ext>
            </a:extLst>
          </p:cNvPr>
          <p:cNvSpPr/>
          <p:nvPr/>
        </p:nvSpPr>
        <p:spPr>
          <a:xfrm>
            <a:off x="8508685" y="4943386"/>
            <a:ext cx="3225347" cy="55798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2113EA-4118-83F0-620E-7154ED7C4D3A}"/>
              </a:ext>
            </a:extLst>
          </p:cNvPr>
          <p:cNvSpPr txBox="1"/>
          <p:nvPr/>
        </p:nvSpPr>
        <p:spPr>
          <a:xfrm>
            <a:off x="8686788" y="5005996"/>
            <a:ext cx="281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EEPROM</a:t>
            </a:r>
            <a:r>
              <a:rPr lang="ko-KR" altLang="en-US" dirty="0"/>
              <a:t>에 </a:t>
            </a:r>
            <a:r>
              <a:rPr lang="en-US" altLang="ko-KR" dirty="0"/>
              <a:t>DTC </a:t>
            </a:r>
            <a:r>
              <a:rPr lang="ko-KR" altLang="en-US" dirty="0"/>
              <a:t>저장하기</a:t>
            </a:r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135A2761-55F2-2868-EB3D-20C4E912E791}"/>
              </a:ext>
            </a:extLst>
          </p:cNvPr>
          <p:cNvSpPr/>
          <p:nvPr/>
        </p:nvSpPr>
        <p:spPr>
          <a:xfrm>
            <a:off x="9887511" y="4802644"/>
            <a:ext cx="294968" cy="25622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굽음 53">
            <a:extLst>
              <a:ext uri="{FF2B5EF4-FFF2-40B4-BE49-F238E27FC236}">
                <a16:creationId xmlns:a16="http://schemas.microsoft.com/office/drawing/2014/main" id="{150602CD-2B0E-8A26-EE8B-A81A29C9B595}"/>
              </a:ext>
            </a:extLst>
          </p:cNvPr>
          <p:cNvSpPr/>
          <p:nvPr/>
        </p:nvSpPr>
        <p:spPr>
          <a:xfrm rot="16200000">
            <a:off x="5341604" y="2920682"/>
            <a:ext cx="3942552" cy="2424437"/>
          </a:xfrm>
          <a:prstGeom prst="bentArrow">
            <a:avLst>
              <a:gd name="adj1" fmla="val 6653"/>
              <a:gd name="adj2" fmla="val 8029"/>
              <a:gd name="adj3" fmla="val 12157"/>
              <a:gd name="adj4" fmla="val 2907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07112-804F-8609-6E3E-C9F98ACBCFF2}"/>
              </a:ext>
            </a:extLst>
          </p:cNvPr>
          <p:cNvSpPr txBox="1"/>
          <p:nvPr/>
        </p:nvSpPr>
        <p:spPr>
          <a:xfrm>
            <a:off x="8508685" y="92939"/>
            <a:ext cx="22188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PMIC,</a:t>
            </a:r>
            <a:r>
              <a:rPr lang="ko-KR" altLang="en-US" dirty="0"/>
              <a:t> </a:t>
            </a:r>
            <a:r>
              <a:rPr lang="en-US" altLang="ko-KR" dirty="0"/>
              <a:t>EEPROM</a:t>
            </a:r>
            <a:r>
              <a:rPr lang="ko-KR" altLang="en-US" dirty="0"/>
              <a:t>은</a:t>
            </a:r>
            <a:endParaRPr lang="en-US" altLang="ko-KR" dirty="0"/>
          </a:p>
          <a:p>
            <a:r>
              <a:rPr lang="ko-KR" altLang="en-US" dirty="0" err="1"/>
              <a:t>세마포어</a:t>
            </a:r>
            <a:r>
              <a:rPr lang="ko-KR" altLang="en-US" dirty="0"/>
              <a:t> 획득 </a:t>
            </a:r>
            <a:r>
              <a:rPr lang="en-US" altLang="ko-KR" dirty="0"/>
              <a:t>-&gt; </a:t>
            </a:r>
          </a:p>
          <a:p>
            <a:r>
              <a:rPr lang="ko-KR" altLang="en-US" dirty="0"/>
              <a:t>인터럽트</a:t>
            </a:r>
            <a:r>
              <a:rPr lang="en-US" altLang="ko-KR" dirty="0"/>
              <a:t>+DMA -&gt; </a:t>
            </a:r>
          </a:p>
          <a:p>
            <a:r>
              <a:rPr lang="ko-KR" altLang="en-US" dirty="0" err="1"/>
              <a:t>세마포어</a:t>
            </a:r>
            <a:r>
              <a:rPr lang="ko-KR" altLang="en-US" dirty="0"/>
              <a:t> 반납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2106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A8517-378F-47DB-4530-97A13D8C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테스트 및 검증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AEB0CC3-20CB-59A2-E0CA-28FC8CA21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291892"/>
              </p:ext>
            </p:extLst>
          </p:nvPr>
        </p:nvGraphicFramePr>
        <p:xfrm>
          <a:off x="875074" y="1825624"/>
          <a:ext cx="10776152" cy="4191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251">
                  <a:extLst>
                    <a:ext uri="{9D8B030D-6E8A-4147-A177-3AD203B41FA5}">
                      <a16:colId xmlns:a16="http://schemas.microsoft.com/office/drawing/2014/main" val="1683388789"/>
                    </a:ext>
                  </a:extLst>
                </a:gridCol>
                <a:gridCol w="3409630">
                  <a:extLst>
                    <a:ext uri="{9D8B030D-6E8A-4147-A177-3AD203B41FA5}">
                      <a16:colId xmlns:a16="http://schemas.microsoft.com/office/drawing/2014/main" val="4034575019"/>
                    </a:ext>
                  </a:extLst>
                </a:gridCol>
                <a:gridCol w="5142271">
                  <a:extLst>
                    <a:ext uri="{9D8B030D-6E8A-4147-A177-3AD203B41FA5}">
                      <a16:colId xmlns:a16="http://schemas.microsoft.com/office/drawing/2014/main" val="3166618071"/>
                    </a:ext>
                  </a:extLst>
                </a:gridCol>
              </a:tblGrid>
              <a:tr h="8383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TEST CASE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TEST </a:t>
                      </a:r>
                      <a:r>
                        <a:rPr lang="ko-KR" altLang="en-US" dirty="0"/>
                        <a:t>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25623"/>
                  </a:ext>
                </a:extLst>
              </a:tr>
              <a:tr h="838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White Box 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WB_TC01_FaultBitDecode()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레지스터 비트필드가 올바르게 해석되는지 검증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56440"/>
                  </a:ext>
                </a:extLst>
              </a:tr>
              <a:tr h="8383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White Box 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WB_TC02_FaultToDTC()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 err="1"/>
                        <a:t>Fault</a:t>
                      </a:r>
                      <a:r>
                        <a:rPr lang="ko-KR" altLang="ko-KR" dirty="0"/>
                        <a:t> 정보가 DTC 활성 상태로 변환되는지 검증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215346"/>
                  </a:ext>
                </a:extLst>
              </a:tr>
              <a:tr h="8383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Black Box 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BB_TC01_ReadDtcResponse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활성 </a:t>
                      </a:r>
                      <a:r>
                        <a:rPr lang="ko-KR" altLang="ko-KR" dirty="0" err="1"/>
                        <a:t>DTC가</a:t>
                      </a:r>
                      <a:r>
                        <a:rPr lang="ko-KR" altLang="ko-KR" dirty="0"/>
                        <a:t> 진단 응답에 포함되는지 검증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111614"/>
                  </a:ext>
                </a:extLst>
              </a:tr>
              <a:tr h="8383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Black Box 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BB_TC02_UnsupportedSubFunction()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미지원 요청에 NRC 0x12를 반환하는지 검증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145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796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397</Words>
  <Application>Microsoft Office PowerPoint</Application>
  <PresentationFormat>와이드스크린</PresentationFormat>
  <Paragraphs>108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STM32F413 기반 차량 ECU 고장 진단 시스템 개발</vt:lpstr>
      <vt:lpstr>프로젝트 개요</vt:lpstr>
      <vt:lpstr>시스템 아키텍쳐</vt:lpstr>
      <vt:lpstr>IC 분석 (PMIC : MP5475)</vt:lpstr>
      <vt:lpstr>RTOS 기반 시스템 설계</vt:lpstr>
      <vt:lpstr>테스트 및 검증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도훈 김</dc:creator>
  <cp:lastModifiedBy>도훈 김</cp:lastModifiedBy>
  <cp:revision>6</cp:revision>
  <dcterms:created xsi:type="dcterms:W3CDTF">2026-10-19T05:23:47Z</dcterms:created>
  <dcterms:modified xsi:type="dcterms:W3CDTF">2026-10-20T02:13:36Z</dcterms:modified>
</cp:coreProperties>
</file>